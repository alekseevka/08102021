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47C0-70A4-48BF-8B1E-3FA2734C0E22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22F95-9DB0-4EF8-B120-7AE3179D99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0845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47C0-70A4-48BF-8B1E-3FA2734C0E22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22F95-9DB0-4EF8-B120-7AE3179D99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9206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47C0-70A4-48BF-8B1E-3FA2734C0E22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22F95-9DB0-4EF8-B120-7AE3179D99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332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47C0-70A4-48BF-8B1E-3FA2734C0E22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22F95-9DB0-4EF8-B120-7AE3179D99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6732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47C0-70A4-48BF-8B1E-3FA2734C0E22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22F95-9DB0-4EF8-B120-7AE3179D99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6830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47C0-70A4-48BF-8B1E-3FA2734C0E22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22F95-9DB0-4EF8-B120-7AE3179D99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8682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47C0-70A4-48BF-8B1E-3FA2734C0E22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22F95-9DB0-4EF8-B120-7AE3179D99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3361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47C0-70A4-48BF-8B1E-3FA2734C0E22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22F95-9DB0-4EF8-B120-7AE3179D99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6589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47C0-70A4-48BF-8B1E-3FA2734C0E22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22F95-9DB0-4EF8-B120-7AE3179D99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8521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47C0-70A4-48BF-8B1E-3FA2734C0E22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22F95-9DB0-4EF8-B120-7AE3179D99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5530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47C0-70A4-48BF-8B1E-3FA2734C0E22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22F95-9DB0-4EF8-B120-7AE3179D99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391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47C0-70A4-48BF-8B1E-3FA2734C0E22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22F95-9DB0-4EF8-B120-7AE3179D99E9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430955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47C0-70A4-48BF-8B1E-3FA2734C0E22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22F95-9DB0-4EF8-B120-7AE3179D99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0243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47C0-70A4-48BF-8B1E-3FA2734C0E22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22F95-9DB0-4EF8-B120-7AE3179D99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2560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47C0-70A4-48BF-8B1E-3FA2734C0E22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22F95-9DB0-4EF8-B120-7AE3179D99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06189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47C0-70A4-48BF-8B1E-3FA2734C0E22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22F95-9DB0-4EF8-B120-7AE3179D99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17350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347C0-70A4-48BF-8B1E-3FA2734C0E22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22F95-9DB0-4EF8-B120-7AE3179D99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153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9F347C0-70A4-48BF-8B1E-3FA2734C0E22}" type="datetimeFigureOut">
              <a:rPr lang="ru-RU" smtClean="0"/>
              <a:t>06.10.2021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22F95-9DB0-4EF8-B120-7AE3179D99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0816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Спецификация функциональных требований к ИС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545051" y="4235116"/>
            <a:ext cx="2646949" cy="2903621"/>
          </a:xfrm>
        </p:spPr>
        <p:txBody>
          <a:bodyPr/>
          <a:lstStyle/>
          <a:p>
            <a:r>
              <a:rPr lang="ru-RU" dirty="0" smtClean="0"/>
              <a:t>Выполнил:</a:t>
            </a:r>
          </a:p>
          <a:p>
            <a:r>
              <a:rPr lang="ru-RU" dirty="0" smtClean="0"/>
              <a:t>Студент группы исип 20 алексеев корней</a:t>
            </a:r>
          </a:p>
          <a:p>
            <a:r>
              <a:rPr lang="ru-RU" dirty="0" smtClean="0"/>
              <a:t>Преподаватель:</a:t>
            </a:r>
          </a:p>
          <a:p>
            <a:r>
              <a:rPr lang="ru-RU" dirty="0" smtClean="0"/>
              <a:t>Е.в.эверстова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2913529" y="212622"/>
            <a:ext cx="6033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Министерство образования и науки РС(Я) ГАПОУ РС (Я) «Якутский колледж связи и энергетики имени П.И. Дудкина»</a:t>
            </a:r>
          </a:p>
        </p:txBody>
      </p:sp>
    </p:spTree>
    <p:extLst>
      <p:ext uri="{BB962C8B-B14F-4D97-AF65-F5344CB8AC3E}">
        <p14:creationId xmlns:p14="http://schemas.microsoft.com/office/powerpoint/2010/main" val="3017725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Вопросы лекции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ru-RU" sz="4400" dirty="0" smtClean="0"/>
              <a:t>Планирование проекта. Анализ и постановка задачи.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4400" dirty="0" smtClean="0"/>
              <a:t>Проектирование ИС.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ru-RU" sz="4400" dirty="0" smtClean="0"/>
              <a:t>Разработка ИС.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3083941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10861"/>
          </a:xfrm>
        </p:spPr>
        <p:txBody>
          <a:bodyPr/>
          <a:lstStyle/>
          <a:p>
            <a:pPr lvl="0"/>
            <a:r>
              <a:rPr lang="ru-RU" sz="3200" dirty="0"/>
              <a:t>ПЛАНИРОВАНИЕ ПРОЕКТА. АНАЛИЗ И ПОСТАНОВКА ЗАДАЧИ.</a:t>
            </a:r>
            <a:br>
              <a:rPr lang="ru-RU" sz="3200" dirty="0"/>
            </a:b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6111" y="1699991"/>
            <a:ext cx="9765215" cy="49013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b="1" dirty="0"/>
              <a:t>Планирование проекта включает следующие стадии: </a:t>
            </a:r>
            <a:r>
              <a:rPr lang="ru-RU" sz="2400" dirty="0"/>
              <a:t>ЭКСПРЕСС-ОБСЛЕДОВАНИЕ; ТЕХНИКО-ЭКОНОМИЧЕСКОЕ ОБОСНОВАНИЕ; ОЦЕНКА ЦЕЛЕСООБРАЗНОСТИ ПРОЕКТА (TELOS); ВЫБОР ПРОГРАММНОГО РЕШЕНИЯ</a:t>
            </a:r>
            <a:r>
              <a:rPr lang="ru-RU" sz="2400" dirty="0" smtClean="0"/>
              <a:t>.</a:t>
            </a:r>
            <a:r>
              <a:rPr lang="ru-RU" sz="2400" dirty="0"/>
              <a:t> </a:t>
            </a:r>
            <a:r>
              <a:rPr lang="ru-RU" sz="2400" dirty="0"/>
              <a:t>Обследование проводится в обязательном порядке на самом первом этапе для сбора информации о целях и задачах компании в целом и внедряемой системы в частности, а также получению данных об основных бизнес-процессах и покрывающем их ландшафте информационных систем (для определения в нем места внедряемого решения</a:t>
            </a:r>
            <a:r>
              <a:rPr lang="ru-RU" sz="2400" dirty="0" smtClean="0"/>
              <a:t>).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	</a:t>
            </a:r>
            <a:r>
              <a:rPr lang="ru-RU" dirty="0"/>
              <a:t> </a:t>
            </a: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69324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03312" y="401054"/>
            <a:ext cx="8946541" cy="5847346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Важно верно определить: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Организационный объем проекта (затрагиваемые реализацией проекта подразделения).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Наличие зависимостей от других проектов</a:t>
            </a:r>
            <a:r>
              <a:rPr lang="ru-RU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Планируемые финансовые, инфраструктурные и человеческие ресурсы, бюджет проекта (включая необходимые закупки – например, лицензии от поставщика ПО – и планируемые затраты при необходимости оплаты услуг подрядчика по сопровождению, по обслуживанию серверов и т.д.).</a:t>
            </a:r>
          </a:p>
          <a:p>
            <a:pPr marL="0" indent="0">
              <a:buNone/>
            </a:pPr>
            <a:r>
              <a:rPr lang="ru-RU" dirty="0"/>
              <a:t>Принято различать две категории обследования</a:t>
            </a:r>
            <a:r>
              <a:rPr lang="ru-RU" dirty="0" smtClean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ЭКСПРЕСС-ОБСЛЕДОВАНИЕ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dirty="0"/>
              <a:t>ИНФОРМАЦИОННОЕ ОБСЛЕДОВАНИЕ</a:t>
            </a:r>
            <a:r>
              <a:rPr lang="en-US" dirty="0"/>
              <a:t>.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endParaRPr lang="ru-RU" dirty="0"/>
          </a:p>
          <a:p>
            <a:pPr marL="457200" indent="-457200">
              <a:buFont typeface="+mj-lt"/>
              <a:buAutoNum type="arabicPeriod"/>
            </a:pP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4830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Анализ и постановка задачи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03312" y="1550894"/>
            <a:ext cx="10206372" cy="469750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400" b="1" dirty="0"/>
              <a:t>Анализ и постановка задачи включает в себя следующие стадии: ИНФОРМАЦИОННОЕ</a:t>
            </a:r>
            <a:r>
              <a:rPr lang="ru-RU" sz="2400" dirty="0"/>
              <a:t> ОБСЛЕДОВАНИЕ ПРЕДПРИЯТИЯ; ОПИСАНИЕ БИЗНЕС-ПРОЦЕССОВ; СБОР ТРЕБОВАНИЙ; ПОДГОТОВКА ТЕХНИЧЕСКОГО ЗАДАНИЯ (ТЗ</a:t>
            </a:r>
            <a:r>
              <a:rPr lang="ru-RU" sz="2400" dirty="0" smtClean="0"/>
              <a:t>).</a:t>
            </a:r>
            <a:endParaRPr lang="ru-RU" sz="2400" dirty="0"/>
          </a:p>
          <a:p>
            <a:pPr marL="0" indent="0">
              <a:buNone/>
            </a:pPr>
            <a:r>
              <a:rPr lang="ru-RU" sz="2400" dirty="0"/>
              <a:t>При описании бизнес-процессов организации проводится выбор </a:t>
            </a:r>
            <a:r>
              <a:rPr lang="ru-RU" sz="2400" b="1" dirty="0"/>
              <a:t>основных нотаций/ методологий моделирования, программных продуктов моделирования деятельности организации.  </a:t>
            </a:r>
            <a:endParaRPr lang="ru-RU" sz="2400" dirty="0"/>
          </a:p>
          <a:p>
            <a:pPr marL="0" indent="0">
              <a:buNone/>
            </a:pPr>
            <a:r>
              <a:rPr lang="ru-RU" sz="2400" dirty="0"/>
              <a:t>Существует определенный набор ключевых мероприятий, обязательное проведение которых может повысить вероятность успеха проекта. Уже на стадии постановки задачи должны быть определены цели этапов проекта и самого проекта, включая критерии их выполнения. При этом данные цели должны быть сформулированы предельно четко и ясно, по возможности, удовлетворяя критериям SMART: КОНКРЕТНОСТЬ, ИЗМЕРИМОСТЬ, ДОСТИЖИМОСТЬ, АКТУАЛЬНОСТЬ, УСТАНОВКА КОНКРЕТНОГО СРОКА.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077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81264" y="449180"/>
            <a:ext cx="9568590" cy="579922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Под </a:t>
            </a:r>
            <a:r>
              <a:rPr lang="ru-RU" b="1" dirty="0"/>
              <a:t>интегрированной системой управления</a:t>
            </a:r>
            <a:r>
              <a:rPr lang="ru-RU" dirty="0"/>
              <a:t> понимается система управления, использующая совокупность современных программно-аппаратных средств, информационных технологий и экономико-математических методов для регулярного решения задач управления производственно-экономической деятельностью предприятий и коммерческих организаций</a:t>
            </a:r>
            <a:r>
              <a:rPr lang="ru-RU" dirty="0" smtClean="0"/>
              <a:t>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Интегрированная система управления является сложной системой управления, включающей в свой состав отдельные модули (подсистемы</a:t>
            </a:r>
            <a:r>
              <a:rPr lang="ru-RU" dirty="0" smtClean="0"/>
              <a:t>).</a:t>
            </a:r>
          </a:p>
          <a:p>
            <a:pPr marL="0" indent="0">
              <a:buNone/>
            </a:pPr>
            <a:r>
              <a:rPr lang="ru-RU" dirty="0"/>
              <a:t>Модуль – часть системы, выделенная по определенному признаку, отвечающему конкретным целям и задачам управления. В рамках этих задач он может рассматриваться как самостоятельная система.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7367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При анализе предметной области принято выделять три этапа: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Этап 1. АНАЛИЗ ТРЕБОВАНИЙ И ИНФОРМАЦИОННЫХ ПОТРЕБНОСТЕЙ.</a:t>
            </a:r>
          </a:p>
          <a:p>
            <a:pPr marL="0" indent="0">
              <a:buNone/>
            </a:pPr>
            <a:r>
              <a:rPr lang="ru-RU" dirty="0" smtClean="0"/>
              <a:t>Этап </a:t>
            </a:r>
            <a:r>
              <a:rPr lang="ru-RU" dirty="0"/>
              <a:t>2. ОПРЕДЕЛЕНИЕ ИНФОРМАЦИОННЫХ ОБЪЕКТОВ И СВЯЗЕЙ МЕЖДУ НИМИ</a:t>
            </a:r>
            <a:r>
              <a:rPr lang="ru-RU" dirty="0" smtClean="0"/>
              <a:t>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Этап 3. КОНСТРУИРОВАНИЕ КОНЦЕПТУАЛЬНОЙ МОДЕЛИ ПРЕДМЕТНОЙ ОБЛАСТИ.</a:t>
            </a:r>
          </a:p>
        </p:txBody>
      </p:sp>
    </p:spTree>
    <p:extLst>
      <p:ext uri="{BB962C8B-B14F-4D97-AF65-F5344CB8AC3E}">
        <p14:creationId xmlns:p14="http://schemas.microsoft.com/office/powerpoint/2010/main" val="107888262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03312" y="401054"/>
            <a:ext cx="8946541" cy="58473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Этап </a:t>
            </a:r>
            <a:r>
              <a:rPr lang="ru-RU" b="1" dirty="0"/>
              <a:t>анализа требований и информационных потребностей</a:t>
            </a:r>
            <a:r>
              <a:rPr lang="ru-RU" dirty="0"/>
              <a:t> включает следующие задачи:</a:t>
            </a:r>
          </a:p>
          <a:p>
            <a:pPr marL="0" indent="0">
              <a:buNone/>
            </a:pPr>
            <a:r>
              <a:rPr lang="ru-RU" dirty="0"/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определение перечня задач по извлечению, обработке, хранению, транспортировке и представлению (в том числе документированию) информации;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определение </a:t>
            </a:r>
            <a:r>
              <a:rPr lang="ru-RU" dirty="0"/>
              <a:t>требований к составу, структуре, формам представления информации;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прогнозирование </a:t>
            </a:r>
            <a:r>
              <a:rPr lang="ru-RU" dirty="0"/>
              <a:t>возможных изменений информационных ресурсов, как в количественном, так и в содержательном плане.</a:t>
            </a:r>
          </a:p>
          <a:p>
            <a:pPr marL="457200" indent="-457200">
              <a:buFont typeface="+mj-lt"/>
              <a:buAutoNum type="arabicPeriod"/>
            </a:pPr>
            <a:endParaRPr lang="ru-RU" dirty="0"/>
          </a:p>
          <a:p>
            <a:pPr marL="0" indent="0">
              <a:buNone/>
            </a:pPr>
            <a:r>
              <a:rPr lang="ru-RU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92352693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ПРОЕКТИРОВАНИЕ ИС.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Основными свойствами процесса проектирования являются дивергенция, трансформация, конвергенция</a:t>
            </a:r>
            <a:r>
              <a:rPr lang="ru-RU" b="1" dirty="0" smtClean="0"/>
              <a:t>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ДИВЕРГЕНЦИЯ — расширение границ проектной ситуации с целью обеспечения более обширного пространства поиска решения</a:t>
            </a:r>
            <a:r>
              <a:rPr lang="ru-RU" dirty="0" smtClean="0"/>
              <a:t>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ТРАНСФОРМАЦИЯ — стадия создания принципов и концепций (исследование структуры проблемы</a:t>
            </a:r>
            <a:r>
              <a:rPr lang="ru-RU" dirty="0" smtClean="0"/>
              <a:t>).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КОНВЕРГЕНЦИЯ охватывает традиционное проектирование (программирование, отладка, проработка деталей).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092527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Учитывая сложность проектирования ИС,  следует заострить внимание на трудностях этого процесса</a:t>
            </a:r>
            <a:r>
              <a:rPr lang="ru-RU" dirty="0" smtClean="0"/>
              <a:t>:</a:t>
            </a:r>
            <a:endParaRPr lang="ru-RU" dirty="0"/>
          </a:p>
          <a:p>
            <a:r>
              <a:rPr lang="ru-RU" dirty="0" smtClean="0"/>
              <a:t>предположение </a:t>
            </a:r>
            <a:r>
              <a:rPr lang="ru-RU" dirty="0"/>
              <a:t>о конечном результате проектирования  приходится делать еще до того, как исследованы средства его  достижения</a:t>
            </a:r>
            <a:r>
              <a:rPr lang="ru-RU" dirty="0" smtClean="0"/>
              <a:t>;</a:t>
            </a:r>
            <a:endParaRPr lang="ru-RU" dirty="0"/>
          </a:p>
          <a:p>
            <a:r>
              <a:rPr lang="ru-RU" dirty="0" smtClean="0"/>
              <a:t>часто </a:t>
            </a:r>
            <a:r>
              <a:rPr lang="ru-RU" dirty="0"/>
              <a:t>случается, что в ходе исследования событий в обратном порядке (от конечного результата) обнаруживаются  непредвиденные трудности или открываются новые, более благоприятные  возможности</a:t>
            </a:r>
            <a:r>
              <a:rPr lang="ru-RU" dirty="0" smtClean="0"/>
              <a:t>;</a:t>
            </a:r>
            <a:endParaRPr lang="ru-RU" dirty="0"/>
          </a:p>
          <a:p>
            <a:r>
              <a:rPr lang="ru-RU" dirty="0" smtClean="0"/>
              <a:t>самая </a:t>
            </a:r>
            <a:r>
              <a:rPr lang="ru-RU" dirty="0"/>
              <a:t>интересная и самая сложная часть разработки — это как раз поиск решения путем изменения формулировки задачи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52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7306" y="449180"/>
            <a:ext cx="9897978" cy="57992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Основными особенностями исходных данных для  проектирования ИС являются следующие</a:t>
            </a:r>
            <a:r>
              <a:rPr lang="ru-RU" dirty="0" smtClean="0"/>
              <a:t>:</a:t>
            </a:r>
            <a:endParaRPr lang="ru-RU" dirty="0"/>
          </a:p>
          <a:p>
            <a:r>
              <a:rPr lang="ru-RU" dirty="0" smtClean="0"/>
              <a:t>большое </a:t>
            </a:r>
            <a:r>
              <a:rPr lang="ru-RU" dirty="0"/>
              <a:t>число действий, подлежащих реализации  (многофункциональность</a:t>
            </a:r>
            <a:r>
              <a:rPr lang="ru-RU" dirty="0" smtClean="0"/>
              <a:t>);</a:t>
            </a:r>
            <a:endParaRPr lang="ru-RU" dirty="0"/>
          </a:p>
          <a:p>
            <a:r>
              <a:rPr lang="ru-RU" dirty="0" smtClean="0"/>
              <a:t>значительный </a:t>
            </a:r>
            <a:r>
              <a:rPr lang="ru-RU" dirty="0"/>
              <a:t>объем и сложность ограничений на  взаимосвязи проектируемой системы с окружением и трудности их  формального описания</a:t>
            </a:r>
            <a:r>
              <a:rPr lang="ru-RU" dirty="0" smtClean="0"/>
              <a:t>;</a:t>
            </a:r>
            <a:endParaRPr lang="ru-RU" dirty="0"/>
          </a:p>
          <a:p>
            <a:r>
              <a:rPr lang="ru-RU" dirty="0" smtClean="0"/>
              <a:t>распределенный </a:t>
            </a:r>
            <a:r>
              <a:rPr lang="ru-RU" dirty="0"/>
              <a:t>и асинхронный режим обработки данных</a:t>
            </a:r>
            <a:r>
              <a:rPr lang="ru-RU" dirty="0" smtClean="0"/>
              <a:t>;</a:t>
            </a:r>
            <a:endParaRPr lang="ru-RU" dirty="0"/>
          </a:p>
          <a:p>
            <a:r>
              <a:rPr lang="ru-RU" dirty="0" smtClean="0"/>
              <a:t>многообразие </a:t>
            </a:r>
            <a:r>
              <a:rPr lang="ru-RU" dirty="0"/>
              <a:t>используемых информационных объектов и их свойств</a:t>
            </a:r>
            <a:r>
              <a:rPr lang="ru-RU" dirty="0" smtClean="0"/>
              <a:t>;</a:t>
            </a:r>
            <a:endParaRPr lang="ru-RU" dirty="0"/>
          </a:p>
          <a:p>
            <a:r>
              <a:rPr lang="ru-RU" dirty="0" smtClean="0"/>
              <a:t>нечеткость </a:t>
            </a:r>
            <a:r>
              <a:rPr lang="ru-RU" dirty="0"/>
              <a:t>требований, их субъективный характер</a:t>
            </a:r>
            <a:r>
              <a:rPr lang="ru-RU" dirty="0" smtClean="0"/>
              <a:t>;</a:t>
            </a:r>
            <a:endParaRPr lang="ru-RU" dirty="0"/>
          </a:p>
          <a:p>
            <a:r>
              <a:rPr lang="ru-RU" dirty="0" smtClean="0"/>
              <a:t>неполнота </a:t>
            </a:r>
            <a:r>
              <a:rPr lang="ru-RU" dirty="0"/>
              <a:t>требований, их расширение в процессе  проектирования, необходимость учета развития системы.</a:t>
            </a:r>
          </a:p>
        </p:txBody>
      </p:sp>
    </p:spTree>
    <p:extLst>
      <p:ext uri="{BB962C8B-B14F-4D97-AF65-F5344CB8AC3E}">
        <p14:creationId xmlns:p14="http://schemas.microsoft.com/office/powerpoint/2010/main" val="12229793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Техническое </a:t>
            </a:r>
            <a:r>
              <a:rPr lang="ru-RU" b="1" dirty="0"/>
              <a:t>проектирование.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Цель данной стадии  – подготовка к этапу настройки модулей системы в целом. Данная стадия предусматривает разработку организационной и функциональной структуры модуля системы, определение уровня автоматизации информационного процесса предприятия, определение структуры информационного и технического обеспечения и требований к их элементам, постановку и алгоритмизацию задач обработки данных, разработку системы ведения нормативно-справочной базы.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052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Заключение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2860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36</TotalTime>
  <Words>282</Words>
  <Application>Microsoft Office PowerPoint</Application>
  <PresentationFormat>Широкоэкранный</PresentationFormat>
  <Paragraphs>60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Century Gothic</vt:lpstr>
      <vt:lpstr>Wingdings</vt:lpstr>
      <vt:lpstr>Wingdings 3</vt:lpstr>
      <vt:lpstr>Ион</vt:lpstr>
      <vt:lpstr>Спецификация функциональных требований к ИС</vt:lpstr>
      <vt:lpstr>Вопросы лекции</vt:lpstr>
      <vt:lpstr>ПЛАНИРОВАНИЕ ПРОЕКТА. АНАЛИЗ И ПОСТАНОВКА ЗАДАЧИ. </vt:lpstr>
      <vt:lpstr>Презентация PowerPoint</vt:lpstr>
      <vt:lpstr>Анализ и постановка задачи</vt:lpstr>
      <vt:lpstr>Презентация PowerPoint</vt:lpstr>
      <vt:lpstr>Презентация PowerPoint</vt:lpstr>
      <vt:lpstr>Презентация PowerPoint</vt:lpstr>
      <vt:lpstr>ПРОЕКТИРОВАНИЕ ИС.</vt:lpstr>
      <vt:lpstr>Презентация PowerPoint</vt:lpstr>
      <vt:lpstr>Презентация PowerPoint</vt:lpstr>
      <vt:lpstr>Техническое проектирование.</vt:lpstr>
      <vt:lpstr>Заключение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Спецификация функциональных требований к ИС</dc:title>
  <dc:creator>Учетная запись Майкрософт</dc:creator>
  <cp:lastModifiedBy>Учетная запись Майкрософт</cp:lastModifiedBy>
  <cp:revision>4</cp:revision>
  <dcterms:created xsi:type="dcterms:W3CDTF">2021-10-06T04:01:26Z</dcterms:created>
  <dcterms:modified xsi:type="dcterms:W3CDTF">2021-10-06T04:38:24Z</dcterms:modified>
</cp:coreProperties>
</file>